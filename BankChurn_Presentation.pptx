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7" r:id="rId5"/>
    <p:sldId id="268" r:id="rId6"/>
    <p:sldId id="259" r:id="rId7"/>
    <p:sldId id="269" r:id="rId8"/>
    <p:sldId id="260" r:id="rId9"/>
    <p:sldId id="270" r:id="rId10"/>
    <p:sldId id="261" r:id="rId11"/>
    <p:sldId id="262" r:id="rId12"/>
    <p:sldId id="271" r:id="rId13"/>
    <p:sldId id="263" r:id="rId14"/>
    <p:sldId id="272" r:id="rId15"/>
    <p:sldId id="273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2E135-8A1A-43C6-9346-15653995152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59821-C962-4D32-AA47-36271525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4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27711-3460-1FAD-AA3C-7A981BA80E0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EF6AE-0256-05AA-19E8-02BA55F499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297680" cy="4297680"/>
          </a:xfrm>
          <a:prstGeom prst="ellipse">
            <a:avLst/>
          </a:prstGeom>
          <a:solidFill>
            <a:srgbClr val="24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60">
                <a:solidFill>
                  <a:srgbClr val="E0972B"/>
                </a:solidFill>
                <a:latin typeface="Segoe UI"/>
              </a:rPr>
              <a:t>ANALYTICAL CRM  · 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Reducing Customer</a:t>
            </a:r>
          </a:p>
          <a:p>
            <a:pPr>
              <a:lnSpc>
                <a:spcPct val="98000"/>
              </a:lnSpc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Churn </a:t>
            </a:r>
            <a:r>
              <a:rPr sz="4600" b="1">
                <a:solidFill>
                  <a:srgbClr val="E0972B"/>
                </a:solidFill>
                <a:latin typeface="Segoe UI Semibold"/>
              </a:rPr>
              <a:t>with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611880"/>
            <a:ext cx="1371600" cy="82296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1EA"/>
                </a:solidFill>
                <a:latin typeface="Segoe UI"/>
              </a:rPr>
              <a:t>Who is leaving, why, and how to keep them — from 10,000 customer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0972B"/>
                </a:solidFill>
                <a:latin typeface="Segoe UI"/>
              </a:rPr>
              <a:t>SQL + Excel + Power BI    |    10,000 customers    |    26 objective + 14 subjective answers, data-verified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737360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221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1865376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20.37%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6568" y="239572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9A92C8"/>
                </a:solidFill>
                <a:latin typeface="Segoe UI"/>
              </a:rPr>
              <a:t>OVERALL CHURN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944368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221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3072384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2,037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8" y="3602735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9A92C8"/>
                </a:solidFill>
                <a:latin typeface="Segoe UI"/>
              </a:rPr>
              <a:t>CUSTOMERS LOST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4151376"/>
            <a:ext cx="2697480" cy="1051560"/>
          </a:xfrm>
          <a:prstGeom prst="roundRect">
            <a:avLst>
              <a:gd name="adj" fmla="val 12000"/>
            </a:avLst>
          </a:prstGeom>
          <a:solidFill>
            <a:srgbClr val="221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427939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480974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9A92C8"/>
                </a:solidFill>
                <a:latin typeface="Segoe UI"/>
              </a:rPr>
              <a:t>SEGMENTS TO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8251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4B0"/>
                </a:solidFill>
                <a:latin typeface="Segoe UI"/>
              </a:rPr>
              <a:t>Prepared by the Data &amp; CRM Analytics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The story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41248"/>
            <a:ext cx="21677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" y="841248"/>
            <a:ext cx="2131155" cy="109728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23845" y="1115568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845" y="111556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03120"/>
            <a:ext cx="21677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5484D"/>
                </a:solidFill>
                <a:latin typeface="Segoe UI Semibold"/>
              </a:rPr>
              <a:t>82.7%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99232"/>
            <a:ext cx="21677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3-product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19856"/>
            <a:ext cx="2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vs 7.6% at two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43219" y="841248"/>
            <a:ext cx="21677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61507" y="841248"/>
            <a:ext cx="2131155" cy="1097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2745" y="1115568"/>
            <a:ext cx="868680" cy="86868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2745" y="111556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3219" y="2103120"/>
            <a:ext cx="21677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6C5CE7"/>
                </a:solidFill>
                <a:latin typeface="Segoe UI Semibold"/>
              </a:rPr>
              <a:t>32.4%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3219" y="2999232"/>
            <a:ext cx="21677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Germany churn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3219" y="3419856"/>
            <a:ext cx="2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2× France &amp; Spain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2119" y="841248"/>
            <a:ext cx="21677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30407" y="841248"/>
            <a:ext cx="2131155" cy="109728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1644" y="1115568"/>
            <a:ext cx="868680" cy="868680"/>
          </a:xfrm>
          <a:prstGeom prst="ellipse">
            <a:avLst/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1644" y="111556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2119" y="2103120"/>
            <a:ext cx="21677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59393"/>
                </a:solidFill>
                <a:latin typeface="Segoe UI Semibold"/>
              </a:rPr>
              <a:t>26.9%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2119" y="2999232"/>
            <a:ext cx="21677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Inactive churn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2119" y="3419856"/>
            <a:ext cx="2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vs 14.3%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81018" y="841248"/>
            <a:ext cx="21677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99306" y="841248"/>
            <a:ext cx="2131155" cy="109728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30544" y="1115568"/>
            <a:ext cx="868680" cy="868680"/>
          </a:xfrm>
          <a:prstGeom prst="ellipse">
            <a:avLst/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0544" y="111556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1018" y="2103120"/>
            <a:ext cx="21677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0972B"/>
                </a:solidFill>
                <a:latin typeface="Segoe UI Semibold"/>
              </a:rPr>
              <a:t>44.7%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1018" y="2999232"/>
            <a:ext cx="21677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Over-50 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1018" y="3419856"/>
            <a:ext cx="2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steepest of all 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49918" y="841248"/>
            <a:ext cx="21677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768206" y="841248"/>
            <a:ext cx="2131155" cy="10972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399443" y="1115568"/>
            <a:ext cx="868680" cy="86868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99443" y="111556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9918" y="2103120"/>
            <a:ext cx="21677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2E9E5B"/>
                </a:solidFill>
                <a:latin typeface="Segoe UI Semibold"/>
              </a:rPr>
              <a:t>20.4%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9918" y="2999232"/>
            <a:ext cx="21677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Overall churn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9918" y="3419856"/>
            <a:ext cx="2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2,037 of 10,000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297680"/>
            <a:ext cx="11643329" cy="1901952"/>
          </a:xfrm>
          <a:prstGeom prst="roundRect">
            <a:avLst>
              <a:gd name="adj" fmla="val 10000"/>
            </a:avLst>
          </a:prstGeom>
          <a:solidFill>
            <a:srgbClr val="17143A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74320" y="4297680"/>
            <a:ext cx="100584" cy="1901952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297680"/>
            <a:ext cx="11094689" cy="190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900" b="1">
                <a:solidFill>
                  <a:srgbClr val="E0972B"/>
                </a:solidFill>
                <a:latin typeface="Segoe UI Semibold"/>
              </a:rPr>
              <a:t>So what?   </a:t>
            </a:r>
            <a:r>
              <a:rPr sz="1800">
                <a:solidFill>
                  <a:srgbClr val="FFFFFF"/>
                </a:solidFill>
                <a:latin typeface="Segoe UI"/>
              </a:rPr>
              <a:t>Churn concentrates in a handful of segments — multi-product, Germany, the inactive and the over-50s. Fix those and the bank keeps its most valuable customers with far less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The portfolio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41248"/>
            <a:ext cx="3722613" cy="2542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" y="841248"/>
            <a:ext cx="3686037" cy="10058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15002" y="1078992"/>
            <a:ext cx="841248" cy="841248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15002" y="1078992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3722613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6C5CE7"/>
                </a:solidFill>
                <a:latin typeface="Segoe UI Semibold"/>
              </a:rP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372261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Total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054096"/>
            <a:ext cx="372261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the full 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4677" y="841248"/>
            <a:ext cx="3722613" cy="2542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52965" y="841248"/>
            <a:ext cx="3686037" cy="100584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75360" y="1078992"/>
            <a:ext cx="841248" cy="841248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75360" y="1078992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4677" y="2011680"/>
            <a:ext cx="3722613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5484D"/>
                </a:solidFill>
                <a:latin typeface="Segoe UI Semibold"/>
              </a:rPr>
              <a:t>20.37%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4677" y="2743200"/>
            <a:ext cx="372261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Churn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4677" y="3054096"/>
            <a:ext cx="372261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2,037 lost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5035" y="841248"/>
            <a:ext cx="3722613" cy="2542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13323" y="841248"/>
            <a:ext cx="3686037" cy="100584"/>
          </a:xfrm>
          <a:prstGeom prst="roundRect">
            <a:avLst>
              <a:gd name="adj" fmla="val 50000"/>
            </a:avLst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35718" y="1078992"/>
            <a:ext cx="841248" cy="841248"/>
          </a:xfrm>
          <a:prstGeom prst="ellipse">
            <a:avLst/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35718" y="1078992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5035" y="2011680"/>
            <a:ext cx="3722613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9D74"/>
                </a:solidFill>
                <a:latin typeface="Segoe UI Semibold"/>
              </a:rPr>
              <a:t>7,963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5035" y="2743200"/>
            <a:ext cx="372261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Retained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5035" y="3054096"/>
            <a:ext cx="372261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79.6% of 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611880"/>
            <a:ext cx="3722613" cy="2542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92608" y="3611880"/>
            <a:ext cx="3686037" cy="100584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715002" y="3849624"/>
            <a:ext cx="841248" cy="841248"/>
          </a:xfrm>
          <a:prstGeom prst="ellipse">
            <a:avLst/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15002" y="3849624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782312"/>
            <a:ext cx="3722613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59393"/>
                </a:solidFill>
                <a:latin typeface="Segoe UI Semibold"/>
              </a:rPr>
              <a:t>€76,486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13832"/>
            <a:ext cx="372261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Avg 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824728"/>
            <a:ext cx="372261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€764M on deposit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34677" y="3611880"/>
            <a:ext cx="3722613" cy="2542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52965" y="3611880"/>
            <a:ext cx="3686037" cy="100584"/>
          </a:xfrm>
          <a:prstGeom prst="roundRect">
            <a:avLst>
              <a:gd name="adj" fmla="val 50000"/>
            </a:avLst>
          </a:prstGeom>
          <a:solidFill>
            <a:srgbClr val="3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75360" y="3849624"/>
            <a:ext cx="841248" cy="841248"/>
          </a:xfrm>
          <a:prstGeom prst="ellipse">
            <a:avLst/>
          </a:prstGeom>
          <a:solidFill>
            <a:srgbClr val="3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75360" y="3849624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4677" y="4782312"/>
            <a:ext cx="3722613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3E6FE0"/>
                </a:solidFill>
                <a:latin typeface="Segoe UI Semibold"/>
              </a:rPr>
              <a:t>51.5%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4677" y="5513832"/>
            <a:ext cx="372261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Active members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4677" y="5824728"/>
            <a:ext cx="372261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half are engaged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5035" y="3611880"/>
            <a:ext cx="3722613" cy="2542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13323" y="3611880"/>
            <a:ext cx="3686037" cy="100584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35718" y="3849624"/>
            <a:ext cx="841248" cy="841248"/>
          </a:xfrm>
          <a:prstGeom prst="ellipse">
            <a:avLst/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35718" y="3849624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5035" y="4782312"/>
            <a:ext cx="3722613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0972B"/>
                </a:solidFill>
                <a:latin typeface="Segoe UI Semibold"/>
              </a:rPr>
              <a:t>70.6%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5035" y="5513832"/>
            <a:ext cx="372261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1B3A"/>
                </a:solidFill>
                <a:latin typeface="Segoe UI Semibold"/>
              </a:rPr>
              <a:t>Card holders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5035" y="5824728"/>
            <a:ext cx="3722613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A90A8"/>
                </a:solidFill>
                <a:latin typeface="Segoe UI"/>
              </a:rPr>
              <a:t>little churn effect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How these numbers were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68096"/>
            <a:ext cx="3722613" cy="3218688"/>
          </a:xfrm>
          <a:prstGeom prst="roundRect">
            <a:avLst>
              <a:gd name="adj" fmla="val 6000"/>
            </a:avLst>
          </a:prstGeom>
          <a:solidFill>
            <a:srgbClr val="EFECF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" y="768096"/>
            <a:ext cx="3686037" cy="1097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133856"/>
            <a:ext cx="3173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1B3A"/>
                </a:solidFill>
                <a:latin typeface="Segoe UI Semibold"/>
              </a:rPr>
              <a:t>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65376"/>
            <a:ext cx="326541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C5CE7"/>
                </a:solidFill>
                <a:latin typeface="Segoe UI Semibold"/>
              </a:rPr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2724912"/>
            <a:ext cx="315568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F4358"/>
                </a:solidFill>
                <a:latin typeface="Segoe UI"/>
              </a:rPr>
              <a:t>customer records, consolidated from 7 source tables into one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4677" y="768096"/>
            <a:ext cx="3722613" cy="3218688"/>
          </a:xfrm>
          <a:prstGeom prst="roundRect">
            <a:avLst>
              <a:gd name="adj" fmla="val 6000"/>
            </a:avLst>
          </a:prstGeom>
          <a:solidFill>
            <a:srgbClr val="E4F4F4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2965" y="768096"/>
            <a:ext cx="3686037" cy="109728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429" y="1133856"/>
            <a:ext cx="3173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1B3A"/>
                </a:solidFill>
                <a:latin typeface="Segoe UI Semibold"/>
              </a:rPr>
              <a:t>The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429" y="1865376"/>
            <a:ext cx="326541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59393"/>
                </a:solidFill>
                <a:latin typeface="Segoe UI Semibold"/>
              </a:rPr>
              <a:t>735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4717" y="2724912"/>
            <a:ext cx="315568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F4358"/>
                </a:solidFill>
                <a:latin typeface="Segoe UI"/>
              </a:rPr>
              <a:t>impossible active-yet-exited records fixed; no missing values remain.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5035" y="768096"/>
            <a:ext cx="3722613" cy="321868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13323" y="768096"/>
            <a:ext cx="3686037" cy="109728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96787" y="1133856"/>
            <a:ext cx="3173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1B3A"/>
                </a:solidFill>
                <a:latin typeface="Segoe UI Semibold"/>
              </a:rPr>
              <a:t>The toolchain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6787" y="1865376"/>
            <a:ext cx="326541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0972B"/>
                </a:solidFill>
                <a:latin typeface="Segoe UI Semibold"/>
              </a:rPr>
              <a:t>SQL ·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5075" y="2724912"/>
            <a:ext cx="315568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F4358"/>
                </a:solidFill>
                <a:latin typeface="Segoe UI"/>
              </a:rPr>
              <a:t>queried in MySQL, modelled in Excel, visualised in Power BI.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352544"/>
            <a:ext cx="11643329" cy="1901952"/>
          </a:xfrm>
          <a:prstGeom prst="roundRect">
            <a:avLst>
              <a:gd name="adj" fmla="val 10000"/>
            </a:avLst>
          </a:prstGeom>
          <a:solidFill>
            <a:srgbClr val="17143A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4352544"/>
            <a:ext cx="100584" cy="1901952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352544"/>
            <a:ext cx="11094689" cy="190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2000"/>
              </a:lnSpc>
            </a:pPr>
            <a:r>
              <a:rPr sz="2050" b="1">
                <a:solidFill>
                  <a:srgbClr val="E0972B"/>
                </a:solidFill>
                <a:latin typeface="Segoe UI Semibold"/>
              </a:rPr>
              <a:t>Reproducible.   </a:t>
            </a:r>
            <a:r>
              <a:rPr sz="1950">
                <a:solidFill>
                  <a:srgbClr val="FFFFFF"/>
                </a:solidFill>
                <a:latin typeface="Segoe UI"/>
              </a:rPr>
              <a:t>Every figure in this deck traces back to the SQL queries and the consolidated data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8746" y="210312"/>
            <a:ext cx="2164461" cy="310896"/>
          </a:xfrm>
          <a:prstGeom prst="roundRect">
            <a:avLst>
              <a:gd name="adj" fmla="val 50000"/>
            </a:avLst>
          </a:prstGeom>
          <a:solidFill>
            <a:srgbClr val="E4E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14, 24,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One in five customers walks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EFECF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6C5CE7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1 in 5 is gone.  </a:t>
            </a:r>
            <a:r>
              <a:rPr sz="1600">
                <a:solidFill>
                  <a:srgbClr val="3F4358"/>
                </a:solidFill>
                <a:latin typeface="Calibri"/>
              </a:rPr>
              <a:t>2,037 of 10,000 customers left — a 20.4% hole in the book.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That's real money.  </a:t>
            </a:r>
            <a:r>
              <a:rPr sz="1600">
                <a:solidFill>
                  <a:srgbClr val="3F4358"/>
                </a:solidFill>
                <a:latin typeface="Calibri"/>
              </a:rPr>
              <a:t>leavers walked out with their balances and fee income.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Most still stay.  </a:t>
            </a:r>
            <a:r>
              <a:rPr sz="1600">
                <a:solidFill>
                  <a:srgbClr val="3F4358"/>
                </a:solidFill>
                <a:latin typeface="Calibri"/>
              </a:rPr>
              <a:t>7,963 customers (79.6%) remain and are worth defending.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It's not random.  </a:t>
            </a:r>
            <a:r>
              <a:rPr sz="1600">
                <a:solidFill>
                  <a:srgbClr val="3F4358"/>
                </a:solidFill>
                <a:latin typeface="Calibri"/>
              </a:rPr>
              <a:t>churn clusters in a handful of segments we can name.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So it's fixable.  </a:t>
            </a:r>
            <a:r>
              <a:rPr sz="1600">
                <a:solidFill>
                  <a:srgbClr val="3F4358"/>
                </a:solidFill>
                <a:latin typeface="Calibri"/>
              </a:rPr>
              <a:t>target those segments and the rate comes down.</a:t>
            </a:r>
          </a:p>
        </p:txBody>
      </p:sp>
      <p:pic>
        <p:nvPicPr>
          <p:cNvPr id="15" name="Picture 14" descr="a_chur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77539"/>
            <a:ext cx="6632417" cy="355895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40196" y="210312"/>
            <a:ext cx="1754886" cy="310896"/>
          </a:xfrm>
          <a:prstGeom prst="roundRect">
            <a:avLst>
              <a:gd name="adj" fmla="val 50000"/>
            </a:avLst>
          </a:prstGeom>
          <a:solidFill>
            <a:srgbClr val="E4E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Subjective Question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Product holding is the biggest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hurn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15297"/>
            <a:ext cx="6632417" cy="4283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EFECF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6C5CE7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Two is the sweet spot.  </a:t>
            </a:r>
            <a:r>
              <a:rPr sz="1600">
                <a:solidFill>
                  <a:srgbClr val="3F4358"/>
                </a:solidFill>
                <a:latin typeface="Calibri"/>
              </a:rPr>
              <a:t>just 7.6% churn when customers hold two products.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Three or four is fatal.  </a:t>
            </a:r>
            <a:r>
              <a:rPr sz="1600">
                <a:solidFill>
                  <a:srgbClr val="3F4358"/>
                </a:solidFill>
                <a:latin typeface="Calibri"/>
              </a:rPr>
              <a:t>82.7% then 100% walk out — effectively everyone.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Not loyalty — friction.  </a:t>
            </a:r>
            <a:r>
              <a:rPr sz="1600">
                <a:solidFill>
                  <a:srgbClr val="3F4358"/>
                </a:solidFill>
                <a:latin typeface="Calibri"/>
              </a:rPr>
              <a:t>it reads like mis-selling on multi-product ties.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Pause the push.  </a:t>
            </a:r>
            <a:r>
              <a:rPr sz="1600">
                <a:solidFill>
                  <a:srgbClr val="3F4358"/>
                </a:solidFill>
                <a:latin typeface="Calibri"/>
              </a:rPr>
              <a:t>stop aggressive 3rd/4th-product selling now.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6C5CE7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Rescue the 326.  </a:t>
            </a:r>
            <a:r>
              <a:rPr sz="1600">
                <a:solidFill>
                  <a:srgbClr val="3F4358"/>
                </a:solidFill>
                <a:latin typeface="Calibri"/>
              </a:rPr>
              <a:t>the customers already stuck at 3–4 products.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7446" y="210312"/>
            <a:ext cx="3507486" cy="310896"/>
          </a:xfrm>
          <a:prstGeom prst="roundRect">
            <a:avLst>
              <a:gd name="adj" fmla="val 50000"/>
            </a:avLst>
          </a:prstGeom>
          <a:solidFill>
            <a:srgbClr val="E4E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10, 12   |   Subjective Question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Churn climbs steeply with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E4F4F4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159393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Youth stay.  </a:t>
            </a:r>
            <a:r>
              <a:rPr sz="1600">
                <a:solidFill>
                  <a:srgbClr val="3F4358"/>
                </a:solidFill>
                <a:latin typeface="Calibri"/>
              </a:rPr>
              <a:t>only 7.5% of 18–30s leave — barely a problem.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Over-50s are the risk.  </a:t>
            </a:r>
            <a:r>
              <a:rPr sz="1600">
                <a:solidFill>
                  <a:srgbClr val="3F4358"/>
                </a:solidFill>
                <a:latin typeface="Calibri"/>
              </a:rPr>
              <a:t>44.7% walk out — six times the youngest band.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The middle is the volume.  </a:t>
            </a:r>
            <a:r>
              <a:rPr sz="1600">
                <a:solidFill>
                  <a:srgbClr val="3F4358"/>
                </a:solidFill>
                <a:latin typeface="Calibri"/>
              </a:rPr>
              <a:t>30–50s are the largest group (6,771) at 19.6%.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Service is the gap.  </a:t>
            </a:r>
            <a:r>
              <a:rPr sz="1600">
                <a:solidFill>
                  <a:srgbClr val="3F4358"/>
                </a:solidFill>
                <a:latin typeface="Calibri"/>
              </a:rPr>
              <a:t>our offer clearly isn't landing with older customers.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Fix older first.  </a:t>
            </a:r>
            <a:r>
              <a:rPr sz="1600">
                <a:solidFill>
                  <a:srgbClr val="3F4358"/>
                </a:solidFill>
                <a:latin typeface="Calibri"/>
              </a:rPr>
              <a:t>biggest rate, clearest opportunity to act.</a:t>
            </a:r>
          </a:p>
        </p:txBody>
      </p:sp>
      <p:pic>
        <p:nvPicPr>
          <p:cNvPr id="15" name="Picture 14" descr="b_churn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949918"/>
            <a:ext cx="6632417" cy="521419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4446" y="210312"/>
            <a:ext cx="3307461" cy="310896"/>
          </a:xfrm>
          <a:prstGeom prst="roundRect">
            <a:avLst>
              <a:gd name="adj" fmla="val 50000"/>
            </a:avLst>
          </a:prstGeom>
          <a:solidFill>
            <a:srgbClr val="D4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16   |   Subjective Question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Germany loses the richest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hurn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15297"/>
            <a:ext cx="6632417" cy="4283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E5484D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Worst market by far.  </a:t>
            </a:r>
            <a:r>
              <a:rPr sz="1600">
                <a:solidFill>
                  <a:srgbClr val="3F4358"/>
                </a:solidFill>
                <a:latin typeface="Calibri"/>
              </a:rPr>
              <a:t>32.4% churn — double France and Spain.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Highest value too.  </a:t>
            </a:r>
            <a:r>
              <a:rPr sz="1600">
                <a:solidFill>
                  <a:srgbClr val="3F4358"/>
                </a:solidFill>
                <a:latin typeface="Calibri"/>
              </a:rPr>
              <a:t>German customers carry our biggest balances.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So the pain doubles.  </a:t>
            </a:r>
            <a:r>
              <a:rPr sz="1600">
                <a:solidFill>
                  <a:srgbClr val="3F4358"/>
                </a:solidFill>
                <a:latin typeface="Calibri"/>
              </a:rPr>
              <a:t>we lose more customers and more money each.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It needs its own play.  </a:t>
            </a:r>
            <a:r>
              <a:rPr sz="1600">
                <a:solidFill>
                  <a:srgbClr val="3F4358"/>
                </a:solidFill>
                <a:latin typeface="Calibri"/>
              </a:rPr>
              <a:t>review pricing, product fit and service.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Call the big balances.  </a:t>
            </a:r>
            <a:r>
              <a:rPr sz="1600">
                <a:solidFill>
                  <a:srgbClr val="3F4358"/>
                </a:solidFill>
                <a:latin typeface="Calibri"/>
              </a:rPr>
              <a:t>proactive outreach to high-value Germans.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2171" y="210312"/>
            <a:ext cx="3431286" cy="310896"/>
          </a:xfrm>
          <a:prstGeom prst="roundRect">
            <a:avLst>
              <a:gd name="adj" fmla="val 50000"/>
            </a:avLst>
          </a:prstGeom>
          <a:solidFill>
            <a:srgbClr val="FA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1, 21   |   Subjective Question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Germany holds the richest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E0972B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Germany is the money.  </a:t>
            </a:r>
            <a:r>
              <a:rPr sz="1600">
                <a:solidFill>
                  <a:srgbClr val="3F4358"/>
                </a:solidFill>
                <a:latin typeface="Calibri"/>
              </a:rPr>
              <a:t>€119.7k average balance — nearly double France &amp; Spain.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Huge concentration.  </a:t>
            </a:r>
            <a:r>
              <a:rPr sz="1600">
                <a:solidFill>
                  <a:srgbClr val="3F4358"/>
                </a:solidFill>
                <a:latin typeface="Calibri"/>
              </a:rPr>
              <a:t>about €300M sits with just 2,509 customers.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And it leaks fastest.  </a:t>
            </a:r>
            <a:r>
              <a:rPr sz="1600">
                <a:solidFill>
                  <a:srgbClr val="3F4358"/>
                </a:solidFill>
                <a:latin typeface="Calibri"/>
              </a:rPr>
              <a:t>Germany also churns at 32.4% — the worst market.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Double the damage.  </a:t>
            </a:r>
            <a:r>
              <a:rPr sz="1600">
                <a:solidFill>
                  <a:srgbClr val="3F4358"/>
                </a:solidFill>
                <a:latin typeface="Calibri"/>
              </a:rPr>
              <a:t>each German loss costs roughly two French ones.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Defend it now.  </a:t>
            </a:r>
            <a:r>
              <a:rPr sz="1600">
                <a:solidFill>
                  <a:srgbClr val="3F4358"/>
                </a:solidFill>
                <a:latin typeface="Calibri"/>
              </a:rPr>
              <a:t>a German retention play protects the richest book.</a:t>
            </a:r>
          </a:p>
        </p:txBody>
      </p:sp>
      <p:pic>
        <p:nvPicPr>
          <p:cNvPr id="15" name="Picture 14" descr="c_balance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005205"/>
            <a:ext cx="6632417" cy="51036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59321" y="210312"/>
            <a:ext cx="3231261" cy="310896"/>
          </a:xfrm>
          <a:prstGeom prst="roundRect">
            <a:avLst>
              <a:gd name="adj" fmla="val 50000"/>
            </a:avLst>
          </a:prstGeom>
          <a:solidFill>
            <a:srgbClr val="F9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1   |   Subjective Question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Inactive &amp; older customers leave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hur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15297"/>
            <a:ext cx="6632417" cy="4283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E4F4F4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159393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Inactivity is a red flag.  </a:t>
            </a:r>
            <a:r>
              <a:rPr sz="1600">
                <a:solidFill>
                  <a:srgbClr val="3F4358"/>
                </a:solidFill>
                <a:latin typeface="Calibri"/>
              </a:rPr>
              <a:t>26.9% churn vs 14.3% for active members.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Age compounds it.  </a:t>
            </a:r>
            <a:r>
              <a:rPr sz="1600">
                <a:solidFill>
                  <a:srgbClr val="3F4358"/>
                </a:solidFill>
                <a:latin typeface="Calibri"/>
              </a:rPr>
              <a:t>over-50s leave at 44.7% — the steepest band.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Together they're lethal.  </a:t>
            </a:r>
            <a:r>
              <a:rPr sz="1600">
                <a:solidFill>
                  <a:srgbClr val="3F4358"/>
                </a:solidFill>
                <a:latin typeface="Calibri"/>
              </a:rPr>
              <a:t>an inactive over-50 is our highest-risk customer.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Re-engage the dormant.  </a:t>
            </a:r>
            <a:r>
              <a:rPr sz="1600">
                <a:solidFill>
                  <a:srgbClr val="3F4358"/>
                </a:solidFill>
                <a:latin typeface="Calibri"/>
              </a:rPr>
              <a:t>a programme for the 4,849 inactive customers.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159393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Older ones first.  </a:t>
            </a:r>
            <a:r>
              <a:rPr sz="1600">
                <a:solidFill>
                  <a:srgbClr val="3F4358"/>
                </a:solidFill>
                <a:latin typeface="Calibri"/>
              </a:rPr>
              <a:t>they carry the steepest rate of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7471" y="210312"/>
            <a:ext cx="1859661" cy="310896"/>
          </a:xfrm>
          <a:prstGeom prst="roundRect">
            <a:avLst>
              <a:gd name="adj" fmla="val 50000"/>
            </a:avLst>
          </a:prstGeom>
          <a:solidFill>
            <a:srgbClr val="D4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Subjective Question 7,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Women churn more than 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hurn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15297"/>
            <a:ext cx="6632417" cy="4283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E0972B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A clear gap.  </a:t>
            </a:r>
            <a:r>
              <a:rPr sz="1600">
                <a:solidFill>
                  <a:srgbClr val="3F4358"/>
                </a:solidFill>
                <a:latin typeface="Calibri"/>
              </a:rPr>
              <a:t>25.1% of women leave vs 16.5% of men.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It's consistent.  </a:t>
            </a:r>
            <a:r>
              <a:rPr sz="1600">
                <a:solidFill>
                  <a:srgbClr val="3F4358"/>
                </a:solidFill>
                <a:latin typeface="Calibri"/>
              </a:rPr>
              <a:t>the gap holds across age and region.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Something's off.  </a:t>
            </a:r>
            <a:r>
              <a:rPr sz="1600">
                <a:solidFill>
                  <a:srgbClr val="3F4358"/>
                </a:solidFill>
                <a:latin typeface="Calibri"/>
              </a:rPr>
              <a:t>the product or service fits women less well.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Review the journey.  </a:t>
            </a:r>
            <a:r>
              <a:rPr sz="1600">
                <a:solidFill>
                  <a:srgbClr val="3F4358"/>
                </a:solidFill>
                <a:latin typeface="Calibri"/>
              </a:rPr>
              <a:t>map exactly where women drop out.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0972B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Pair the fixes.  </a:t>
            </a:r>
            <a:r>
              <a:rPr sz="1600">
                <a:solidFill>
                  <a:srgbClr val="3F4358"/>
                </a:solidFill>
                <a:latin typeface="Calibri"/>
              </a:rPr>
              <a:t>combine with the age and inactivity plays.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2872" y="210312"/>
            <a:ext cx="3250311" cy="310896"/>
          </a:xfrm>
          <a:prstGeom prst="roundRect">
            <a:avLst>
              <a:gd name="adj" fmla="val 50000"/>
            </a:avLst>
          </a:prstGeom>
          <a:solidFill>
            <a:srgbClr val="F9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4   |   Subjective Question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What drives churn — and what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E5484D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Products are everything.  </a:t>
            </a:r>
            <a:r>
              <a:rPr sz="1600">
                <a:solidFill>
                  <a:srgbClr val="3F4358"/>
                </a:solidFill>
                <a:latin typeface="Calibri"/>
              </a:rPr>
              <a:t>a 92-point swing dwarfs every other factor.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Age &amp; geography matter.  </a:t>
            </a:r>
            <a:r>
              <a:rPr sz="1600">
                <a:solidFill>
                  <a:srgbClr val="3F4358"/>
                </a:solidFill>
                <a:latin typeface="Calibri"/>
              </a:rPr>
              <a:t>37 and 16 points of spread — worth acting 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Activity &amp; gender help.  </a:t>
            </a:r>
            <a:r>
              <a:rPr sz="1600">
                <a:solidFill>
                  <a:srgbClr val="3F4358"/>
                </a:solidFill>
                <a:latin typeface="Calibri"/>
              </a:rPr>
              <a:t>13 and 9 points — useful for targeting.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Card &amp; salary don't.  </a:t>
            </a:r>
            <a:r>
              <a:rPr sz="1600">
                <a:solidFill>
                  <a:srgbClr val="3F4358"/>
                </a:solidFill>
                <a:latin typeface="Calibri"/>
              </a:rPr>
              <a:t>under 1 point of difference — stop spending there.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50" b="1">
                <a:solidFill>
                  <a:srgbClr val="E5484D"/>
                </a:solidFill>
              </a:rPr>
              <a:t>◆  </a:t>
            </a:r>
            <a:r>
              <a:rPr sz="1650" b="1">
                <a:solidFill>
                  <a:srgbClr val="1E1B3A"/>
                </a:solidFill>
                <a:latin typeface="Segoe UI Semibold"/>
              </a:rPr>
              <a:t>Focus wins.  </a:t>
            </a:r>
            <a:r>
              <a:rPr sz="1600">
                <a:solidFill>
                  <a:srgbClr val="3F4358"/>
                </a:solidFill>
                <a:latin typeface="Calibri"/>
              </a:rPr>
              <a:t>fix the top three drivers, ignore the rest.</a:t>
            </a:r>
          </a:p>
        </p:txBody>
      </p:sp>
      <p:pic>
        <p:nvPicPr>
          <p:cNvPr id="15" name="Picture 14" descr="f_churn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09103"/>
            <a:ext cx="6632417" cy="42958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68623" y="210312"/>
            <a:ext cx="1859661" cy="310896"/>
          </a:xfrm>
          <a:prstGeom prst="roundRect">
            <a:avLst>
              <a:gd name="adj" fmla="val 50000"/>
            </a:avLst>
          </a:prstGeom>
          <a:solidFill>
            <a:srgbClr val="FA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Subjective Question 7,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Where NOT to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68096"/>
            <a:ext cx="3722613" cy="3218688"/>
          </a:xfrm>
          <a:prstGeom prst="roundRect">
            <a:avLst>
              <a:gd name="adj" fmla="val 6000"/>
            </a:avLst>
          </a:prstGeom>
          <a:solidFill>
            <a:srgbClr val="EFECF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" y="768096"/>
            <a:ext cx="3686037" cy="1097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133856"/>
            <a:ext cx="3173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1B3A"/>
                </a:solidFill>
                <a:latin typeface="Segoe UI Semibold"/>
              </a:rPr>
              <a:t>Credit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65376"/>
            <a:ext cx="326541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C5CE7"/>
                </a:solidFill>
                <a:latin typeface="Segoe UI Semibold"/>
              </a:rPr>
              <a:t>20.2%  vs  20.8%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2724912"/>
            <a:ext cx="315568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F4358"/>
                </a:solidFill>
                <a:latin typeface="Segoe UI"/>
              </a:rPr>
              <a:t>Holding a card barely changes churn (0.6 pt).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4677" y="768096"/>
            <a:ext cx="3722613" cy="3218688"/>
          </a:xfrm>
          <a:prstGeom prst="roundRect">
            <a:avLst>
              <a:gd name="adj" fmla="val 6000"/>
            </a:avLst>
          </a:prstGeom>
          <a:solidFill>
            <a:srgbClr val="E4F4F4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2965" y="768096"/>
            <a:ext cx="3686037" cy="109728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429" y="1133856"/>
            <a:ext cx="3173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1B3A"/>
                </a:solidFill>
                <a:latin typeface="Segoe UI Semibold"/>
              </a:rPr>
              <a:t>Credit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429" y="1865376"/>
            <a:ext cx="326541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59393"/>
                </a:solidFill>
                <a:latin typeface="Segoe UI Semibold"/>
              </a:rPr>
              <a:t>645  vs  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4717" y="2724912"/>
            <a:ext cx="315568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F4358"/>
                </a:solidFill>
                <a:latin typeface="Segoe UI"/>
              </a:rPr>
              <a:t>Leavers and stayers score almost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5035" y="768096"/>
            <a:ext cx="3722613" cy="321868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13323" y="768096"/>
            <a:ext cx="3686037" cy="109728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96787" y="1133856"/>
            <a:ext cx="31739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1B3A"/>
                </a:solidFill>
                <a:latin typeface="Segoe UI Semibold"/>
              </a:rPr>
              <a:t>Estimated salary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6787" y="1865376"/>
            <a:ext cx="326541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0972B"/>
                </a:solidFill>
                <a:latin typeface="Segoe UI Semibold"/>
              </a:rPr>
              <a:t>r ≈ 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5075" y="2724912"/>
            <a:ext cx="3155685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3F4358"/>
                </a:solidFill>
                <a:latin typeface="Segoe UI"/>
              </a:rPr>
              <a:t>No link to churn, balance or credit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352544"/>
            <a:ext cx="11643329" cy="1901952"/>
          </a:xfrm>
          <a:prstGeom prst="roundRect">
            <a:avLst>
              <a:gd name="adj" fmla="val 10000"/>
            </a:avLst>
          </a:prstGeom>
          <a:solidFill>
            <a:srgbClr val="17143A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4352544"/>
            <a:ext cx="100584" cy="1901952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352544"/>
            <a:ext cx="11094689" cy="190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2000"/>
              </a:lnSpc>
            </a:pPr>
            <a:r>
              <a:rPr sz="2050" b="1">
                <a:solidFill>
                  <a:srgbClr val="E0972B"/>
                </a:solidFill>
                <a:latin typeface="Segoe UI Semibold"/>
              </a:rPr>
              <a:t>Bottom line.   </a:t>
            </a:r>
            <a:r>
              <a:rPr sz="1950">
                <a:solidFill>
                  <a:srgbClr val="FFFFFF"/>
                </a:solidFill>
                <a:latin typeface="Segoe UI"/>
              </a:rPr>
              <a:t>Skip credit-card incentives and salary/score targeting for churn. Put the money into products, activity, geography and 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8723" y="210312"/>
            <a:ext cx="2012061" cy="310896"/>
          </a:xfrm>
          <a:prstGeom prst="roundRect">
            <a:avLst>
              <a:gd name="adj" fmla="val 50000"/>
            </a:avLst>
          </a:prstGeom>
          <a:solidFill>
            <a:srgbClr val="F9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Objective Question 5, 9,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The opportunity, sized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6888449" cy="5650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45649" y="731520"/>
            <a:ext cx="4572000" cy="5650992"/>
          </a:xfrm>
          <a:prstGeom prst="roundRect">
            <a:avLst>
              <a:gd name="adj" fmla="val 5000"/>
            </a:avLst>
          </a:prstGeom>
          <a:solidFill>
            <a:srgbClr val="EFECFC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45649" y="731520"/>
            <a:ext cx="91440" cy="5650992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56545" y="9692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spc="140">
                <a:solidFill>
                  <a:srgbClr val="6C5CE7"/>
                </a:solidFill>
                <a:latin typeface="Segoe UI Semibold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6545" y="1517904"/>
            <a:ext cx="4005072" cy="334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6000"/>
              </a:lnSpc>
              <a:spcAft>
                <a:spcPts val="1200"/>
              </a:spcAft>
            </a:pPr>
            <a:r>
              <a:rPr sz="1350" b="1" dirty="0">
                <a:solidFill>
                  <a:srgbClr val="6C5CE7"/>
                </a:solidFill>
              </a:rPr>
              <a:t>◆  </a:t>
            </a:r>
            <a:r>
              <a:rPr sz="1650" b="1" dirty="0">
                <a:solidFill>
                  <a:srgbClr val="1E1B3A"/>
                </a:solidFill>
                <a:latin typeface="Segoe UI Semibold"/>
              </a:rPr>
              <a:t>Biggest pool: singles.  </a:t>
            </a:r>
            <a:r>
              <a:rPr sz="1600" dirty="0">
                <a:solidFill>
                  <a:srgbClr val="3F4358"/>
                </a:solidFill>
                <a:latin typeface="Calibri"/>
              </a:rPr>
              <a:t>5,084 one-product customers to move up to two.</a:t>
            </a:r>
          </a:p>
          <a:p>
            <a:pPr algn="just">
              <a:lnSpc>
                <a:spcPct val="106000"/>
              </a:lnSpc>
              <a:spcAft>
                <a:spcPts val="1200"/>
              </a:spcAft>
            </a:pPr>
            <a:r>
              <a:rPr sz="1350" b="1" dirty="0">
                <a:solidFill>
                  <a:srgbClr val="6C5CE7"/>
                </a:solidFill>
              </a:rPr>
              <a:t>◆  </a:t>
            </a:r>
            <a:r>
              <a:rPr sz="1650" b="1" dirty="0">
                <a:solidFill>
                  <a:srgbClr val="1E1B3A"/>
                </a:solidFill>
                <a:latin typeface="Segoe UI Semibold"/>
              </a:rPr>
              <a:t>Fastest win: inactive.  </a:t>
            </a:r>
            <a:r>
              <a:rPr sz="1600" dirty="0">
                <a:solidFill>
                  <a:srgbClr val="3F4358"/>
                </a:solidFill>
                <a:latin typeface="Calibri"/>
              </a:rPr>
              <a:t>4,849 dormant members churning at 26.9%.</a:t>
            </a:r>
          </a:p>
          <a:p>
            <a:pPr algn="just">
              <a:lnSpc>
                <a:spcPct val="106000"/>
              </a:lnSpc>
              <a:spcAft>
                <a:spcPts val="1200"/>
              </a:spcAft>
            </a:pPr>
            <a:r>
              <a:rPr sz="1350" b="1" dirty="0">
                <a:solidFill>
                  <a:srgbClr val="6C5CE7"/>
                </a:solidFill>
              </a:rPr>
              <a:t>◆  </a:t>
            </a:r>
            <a:r>
              <a:rPr sz="1650" b="1" dirty="0">
                <a:solidFill>
                  <a:srgbClr val="1E1B3A"/>
                </a:solidFill>
                <a:latin typeface="Segoe UI Semibold"/>
              </a:rPr>
              <a:t>Richest to defend: Germany.  </a:t>
            </a:r>
            <a:r>
              <a:rPr sz="1600" dirty="0">
                <a:solidFill>
                  <a:srgbClr val="3F4358"/>
                </a:solidFill>
                <a:latin typeface="Calibri"/>
              </a:rPr>
              <a:t>2,509 high-value accounts in the worst market.</a:t>
            </a:r>
          </a:p>
          <a:p>
            <a:pPr algn="just">
              <a:lnSpc>
                <a:spcPct val="106000"/>
              </a:lnSpc>
              <a:spcAft>
                <a:spcPts val="1200"/>
              </a:spcAft>
            </a:pPr>
            <a:r>
              <a:rPr sz="1350" b="1" dirty="0">
                <a:solidFill>
                  <a:srgbClr val="6C5CE7"/>
                </a:solidFill>
              </a:rPr>
              <a:t>◆  </a:t>
            </a:r>
            <a:r>
              <a:rPr sz="1650" b="1" dirty="0">
                <a:solidFill>
                  <a:srgbClr val="1E1B3A"/>
                </a:solidFill>
                <a:latin typeface="Segoe UI Semibold"/>
              </a:rPr>
              <a:t>Small but certain.  </a:t>
            </a:r>
            <a:r>
              <a:rPr sz="1600" dirty="0">
                <a:solidFill>
                  <a:srgbClr val="3F4358"/>
                </a:solidFill>
                <a:latin typeface="Calibri"/>
              </a:rPr>
              <a:t>326 at 3–4 products churn almost completely.</a:t>
            </a:r>
          </a:p>
          <a:p>
            <a:pPr algn="just">
              <a:lnSpc>
                <a:spcPct val="106000"/>
              </a:lnSpc>
              <a:spcAft>
                <a:spcPts val="1200"/>
              </a:spcAft>
            </a:pPr>
            <a:r>
              <a:rPr sz="1350" b="1" dirty="0">
                <a:solidFill>
                  <a:srgbClr val="6C5CE7"/>
                </a:solidFill>
              </a:rPr>
              <a:t>◆  </a:t>
            </a:r>
            <a:r>
              <a:rPr sz="1650" b="1" dirty="0">
                <a:solidFill>
                  <a:srgbClr val="1E1B3A"/>
                </a:solidFill>
                <a:latin typeface="Segoe UI Semibold"/>
              </a:rPr>
              <a:t>Clear order of play.  </a:t>
            </a:r>
            <a:r>
              <a:rPr sz="1600" dirty="0">
                <a:solidFill>
                  <a:srgbClr val="3F4358"/>
                </a:solidFill>
                <a:latin typeface="Calibri"/>
              </a:rPr>
              <a:t>singles, then inactive, then Germany.</a:t>
            </a:r>
          </a:p>
        </p:txBody>
      </p:sp>
      <p:pic>
        <p:nvPicPr>
          <p:cNvPr id="15" name="Picture 14" descr="d_sizing_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353114"/>
            <a:ext cx="6632417" cy="440780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68422" y="210312"/>
            <a:ext cx="1716786" cy="310896"/>
          </a:xfrm>
          <a:prstGeom prst="roundRect">
            <a:avLst>
              <a:gd name="adj" fmla="val 50000"/>
            </a:avLst>
          </a:prstGeom>
          <a:solidFill>
            <a:srgbClr val="E4E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Subjective Question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One interactive view for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" y="749808"/>
            <a:ext cx="9492386" cy="5614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76434" y="749808"/>
            <a:ext cx="2041215" cy="5614416"/>
          </a:xfrm>
          <a:prstGeom prst="roundRect">
            <a:avLst>
              <a:gd name="adj" fmla="val 5000"/>
            </a:avLst>
          </a:prstGeom>
          <a:solidFill>
            <a:srgbClr val="E4F4F4"/>
          </a:solidFill>
          <a:ln>
            <a:noFill/>
          </a:ln>
          <a:effectLst>
            <a:outerShdw blurRad="177800" dist="63500" dir="5400000" rotWithShape="0">
              <a:srgbClr val="1A1B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6434" y="749808"/>
            <a:ext cx="91440" cy="5614416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77602" y="932688"/>
            <a:ext cx="1730319" cy="394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00" b="1" dirty="0">
                <a:solidFill>
                  <a:srgbClr val="159393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◆  </a:t>
            </a:r>
            <a:r>
              <a:rPr lang="en-US"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10 KPIs at a glance:   </a:t>
            </a:r>
            <a:r>
              <a:rPr lang="en-US" sz="12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churn, balance, activity and tenure.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lang="en-US" sz="1200" b="1" dirty="0">
                <a:solidFill>
                  <a:srgbClr val="159393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◆  </a:t>
            </a:r>
            <a:r>
              <a:rPr lang="en-US"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9 churn break-down: </a:t>
            </a:r>
            <a:r>
              <a:rPr lang="en-US" sz="12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region product, age, activity, gender and credit.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00" b="1" dirty="0">
                <a:solidFill>
                  <a:srgbClr val="159393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◆  </a:t>
            </a:r>
            <a:r>
              <a:rPr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Fully interactive </a:t>
            </a:r>
            <a:r>
              <a:rPr lang="en-US"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-</a:t>
            </a:r>
            <a:r>
              <a:rPr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sz="12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Region, Gender, Age &amp; Products slicers filter every visual.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200" b="1" dirty="0">
                <a:solidFill>
                  <a:srgbClr val="159393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◆  </a:t>
            </a:r>
            <a:r>
              <a:rPr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 clean, centered</a:t>
            </a:r>
            <a:r>
              <a:rPr lang="en-US"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title </a:t>
            </a:r>
            <a:r>
              <a:rPr lang="en-US" sz="12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layout, </a:t>
            </a:r>
            <a:r>
              <a:rPr sz="12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built for easy reading by management.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950976"/>
            <a:ext cx="9309506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46304"/>
            <a:ext cx="118872" cy="438912"/>
          </a:xfrm>
          <a:prstGeom prst="roundRect">
            <a:avLst>
              <a:gd name="adj" fmla="val 40000"/>
            </a:avLst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1440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0000"/>
                </a:solidFill>
                <a:latin typeface="Segoe UI Semibold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329" y="182880"/>
            <a:ext cx="1417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spc="120">
                <a:solidFill>
                  <a:srgbClr val="000000"/>
                </a:solidFill>
                <a:latin typeface="Segoe UI"/>
              </a:rPr>
              <a:t>CHURN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48969" y="5303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00000"/>
                </a:solidFill>
                <a:latin typeface="Segoe UI Semibold"/>
              </a:rPr>
              <a:t>Bank Customer Churn  ·  Analytical CRM  ·  2016–2019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09" y="645566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0000"/>
                </a:solidFill>
                <a:latin typeface="Segoe UI Semibold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896112"/>
            <a:ext cx="1164332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8A90A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896112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8640" y="1083564"/>
            <a:ext cx="585216" cy="58521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8356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060704"/>
            <a:ext cx="1027172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1B3A"/>
                </a:solidFill>
                <a:latin typeface="Segoe UI Semibold"/>
              </a:rPr>
              <a:t>Fix the multi-product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426464"/>
            <a:ext cx="1027172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F4358"/>
                </a:solidFill>
                <a:latin typeface="Calibri"/>
              </a:rPr>
              <a:t>Pause aggressive 3rd/4th-product selling; save the 326 at-risk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993391"/>
            <a:ext cx="1164332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8A90A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" y="1993391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" y="2180844"/>
            <a:ext cx="585216" cy="585216"/>
          </a:xfrm>
          <a:prstGeom prst="ellipse">
            <a:avLst/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18084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157984"/>
            <a:ext cx="1027172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1B3A"/>
                </a:solidFill>
                <a:latin typeface="Segoe UI Semibold"/>
              </a:rPr>
              <a:t>Stand up a Germany retention 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523744"/>
            <a:ext cx="1027172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F4358"/>
                </a:solidFill>
                <a:latin typeface="Calibri"/>
              </a:rPr>
              <a:t>Review pricing, product fit and service; call high-balance German customers.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090672"/>
            <a:ext cx="1164332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8A90A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4320" y="3090672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8640" y="3278124"/>
            <a:ext cx="585216" cy="585216"/>
          </a:xfrm>
          <a:prstGeom prst="ellipse">
            <a:avLst/>
          </a:prstGeom>
          <a:solidFill>
            <a:srgbClr val="159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27812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255264"/>
            <a:ext cx="1027172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1B3A"/>
                </a:solidFill>
                <a:latin typeface="Segoe UI Semibold"/>
              </a:rPr>
              <a:t>Activate the inactive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621024"/>
            <a:ext cx="1027172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F4358"/>
                </a:solidFill>
                <a:latin typeface="Calibri"/>
              </a:rPr>
              <a:t>Re-engagement programme for the 4,849 inactive customers (26.9% churn).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187952"/>
            <a:ext cx="1164332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8A90A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4320" y="4187952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48640" y="4375404"/>
            <a:ext cx="585216" cy="585216"/>
          </a:xfrm>
          <a:prstGeom prst="ellipse">
            <a:avLst/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37540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352544"/>
            <a:ext cx="1027172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1B3A"/>
                </a:solidFill>
                <a:latin typeface="Segoe UI Semibold"/>
              </a:rPr>
              <a:t>Convert single-product to two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718304"/>
            <a:ext cx="1027172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F4358"/>
                </a:solidFill>
                <a:latin typeface="Calibri"/>
              </a:rPr>
              <a:t>Move the 5,084 single-product customers into the safe 7.6% band.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85231"/>
            <a:ext cx="1164332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8A90A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74320" y="5285231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" y="5472683"/>
            <a:ext cx="585216" cy="585216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472683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449823"/>
            <a:ext cx="1027172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1B3A"/>
                </a:solidFill>
                <a:latin typeface="Segoe UI Semibold"/>
              </a:rPr>
              <a:t>Look after older &amp; female 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815583"/>
            <a:ext cx="1027172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F4358"/>
                </a:solidFill>
                <a:latin typeface="Calibri"/>
              </a:rPr>
              <a:t>Dedicated service review for over-50s (44.7%) and women (25.1%).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20722" y="210312"/>
            <a:ext cx="1859661" cy="310896"/>
          </a:xfrm>
          <a:prstGeom prst="roundRect">
            <a:avLst>
              <a:gd name="adj" fmla="val 50000"/>
            </a:avLst>
          </a:prstGeom>
          <a:solidFill>
            <a:srgbClr val="D6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Segoe UI Semibold"/>
              </a:rPr>
              <a:t>Subjective Question 4,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3931920"/>
            <a:ext cx="4389120" cy="4389120"/>
          </a:xfrm>
          <a:prstGeom prst="ellipse">
            <a:avLst/>
          </a:prstGeom>
          <a:solidFill>
            <a:srgbClr val="24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2377440"/>
            <a:ext cx="1371600" cy="82296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 Semibold"/>
              </a:rPr>
              <a:t>Churn is concentrated — and therefore fixable.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8620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C9D1EA"/>
                </a:solidFill>
                <a:latin typeface="Segoe UI"/>
              </a:rPr>
              <a:t>Target the five segments and the bank protects its most valuable customers with far less spend than a broad campaign would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E0972B"/>
                </a:solidFill>
                <a:latin typeface="Segoe U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874100-6000-43b6-a204-2d77792600b9}" enabled="1" method="Standard" siteId="{f38a5ecd-2813-4862-b11b-ac1d563c806f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1519</Words>
  <Application>Microsoft Office PowerPoint</Application>
  <PresentationFormat>Widescreen</PresentationFormat>
  <Paragraphs>225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Sudeep Sudarshan Rana</cp:lastModifiedBy>
  <cp:revision>5</cp:revision>
  <dcterms:created xsi:type="dcterms:W3CDTF">2013-01-27T09:14:16Z</dcterms:created>
  <dcterms:modified xsi:type="dcterms:W3CDTF">2026-10-06T15:04:02Z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Micron Confidential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Micron Confidential</vt:lpwstr>
  </property>
</Properties>
</file>